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97" r:id="rId2"/>
    <p:sldId id="302" r:id="rId3"/>
    <p:sldId id="298" r:id="rId4"/>
    <p:sldId id="299" r:id="rId5"/>
    <p:sldId id="30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6" r:id="rId31"/>
    <p:sldId id="295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  <a:srgbClr val="1E2426"/>
    <a:srgbClr val="7DB0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071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44CON 2026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KERNEL CALLBACK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INTEGRITY BYPASS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ProcessNotifyRoutine Callbacks even when Microsoft does not want </a:t>
            </a:r>
            <a:r>
              <a:rPr lang="en-US" sz="1600" i="1" dirty="0">
                <a:solidFill>
                  <a:srgbClr val="7D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i="1" dirty="0">
                <a:solidFill>
                  <a:srgbClr val="7D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 Windows 11 Machines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5349240"/>
            <a:ext cx="1005840" cy="0"/>
          </a:xfrm>
          <a:prstGeom prst="line">
            <a:avLst/>
          </a:prstGeom>
          <a:noFill/>
          <a:ln w="31750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5623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Arth Maurya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name"/>
          <p:cNvSpPr>
            <a:spLocks noGrp="1"/>
          </p:cNvSpPr>
          <p:nvPr/>
        </p:nvSpPr>
        <p:spPr>
          <a:xfrm>
            <a:off x="502920" y="1005840"/>
            <a:ext cx="822960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Arth Maurya</a:t>
            </a:r>
          </a:p>
        </p:txBody>
      </p:sp>
      <p:sp>
        <p:nvSpPr>
          <p:cNvPr id="4" name="title"/>
          <p:cNvSpPr>
            <a:spLocks noGrp="1"/>
          </p:cNvSpPr>
          <p:nvPr/>
        </p:nvSpPr>
        <p:spPr>
          <a:xfrm>
            <a:off x="502920" y="2148840"/>
            <a:ext cx="82296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0A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Student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B7C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•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0AEB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Offensive Security Researcher</a:t>
            </a:r>
          </a:p>
        </p:txBody>
      </p:sp>
      <p:sp>
        <p:nvSpPr>
          <p:cNvPr id="5" name="div"/>
          <p:cNvSpPr/>
          <p:nvPr/>
        </p:nvSpPr>
        <p:spPr>
          <a:xfrm>
            <a:off x="502920" y="2834640"/>
            <a:ext cx="3200400" cy="0"/>
          </a:xfrm>
          <a:prstGeom prst="line">
            <a:avLst/>
          </a:prstGeom>
          <a:noFill/>
          <a:ln w="19050">
            <a:solidFill>
              <a:srgbClr val="7DB0A5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qr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83" y="1444763"/>
            <a:ext cx="3968474" cy="3968474"/>
          </a:xfrm>
          <a:prstGeom prst="rect">
            <a:avLst/>
          </a:prstGeom>
          <a:noFill/>
        </p:spPr>
      </p:pic>
      <p:sp>
        <p:nvSpPr>
          <p:cNvPr id="11" name="url1"/>
          <p:cNvSpPr>
            <a:spLocks noGrp="1"/>
          </p:cNvSpPr>
          <p:nvPr/>
        </p:nvSpPr>
        <p:spPr>
          <a:xfrm>
            <a:off x="7432647" y="5718975"/>
            <a:ext cx="2599746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B7C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linkedin.com/in/arth-maurya</a:t>
            </a: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B8674203-B178-78D6-13BF-564FAFA7AB50}"/>
              </a:ext>
            </a:extLst>
          </p:cNvPr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b="1" kern="0" spc="300" dirty="0">
                <a:solidFill>
                  <a:srgbClr val="7D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&gt;_ whoami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2F5F4"/>
                </a:solidFill>
                <a:latin typeface="Cambria" pitchFamily="34" charset="0"/>
                <a:ea typeface="Cambria" pitchFamily="34" charset="-122"/>
              </a:rPr>
              <a:t>Overview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0106" y="1783080"/>
            <a:ext cx="10771632" cy="4526280"/>
          </a:xfrm>
          <a:prstGeom prst="roundRect">
            <a:avLst>
              <a:gd name="adj" fmla="val 2100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92113"/>
            <a:ext cx="502920" cy="502920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9211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00200" y="2137833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35894" y="2526830"/>
            <a:ext cx="8899991" cy="53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30000"/>
              </a:lnSpc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callback via PsSetCreateProcessNotifyRoutine to intercept </a:t>
            </a:r>
            <a:r>
              <a:rPr lang="en-US" sz="1300" dirty="0">
                <a:solidFill>
                  <a:srgbClr val="9F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 and termination.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3189393"/>
            <a:ext cx="502920" cy="502920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1826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00200" y="3235113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ENVIRONMENT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35894" y="3627520"/>
            <a:ext cx="3223683" cy="1182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25H2 (26200.9168)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protection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Tamper Protection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Memory access protection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68680" y="5182446"/>
            <a:ext cx="502920" cy="502920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517567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00200" y="5223933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ROADBLOCK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07997" y="5376333"/>
            <a:ext cx="4689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aggressively blocks the request, returning: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13739" y="5638800"/>
            <a:ext cx="3801533" cy="519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STATUS_ACCESS_DENIED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(0xC0000022)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Where It Fails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74287" y="2377440"/>
            <a:ext cx="4999377" cy="1051560"/>
          </a:xfrm>
          <a:prstGeom prst="roundRect">
            <a:avLst>
              <a:gd name="adj" fmla="val 6087"/>
            </a:avLst>
          </a:prstGeom>
          <a:solidFill>
            <a:srgbClr val="1E2426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2887" y="2468880"/>
            <a:ext cx="45530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PsSetCreateProcessNotifyRoutine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1774" y="2884932"/>
            <a:ext cx="4553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Manually mapped driver attempts to register its callback.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815735" y="3753612"/>
            <a:ext cx="232114" cy="292608"/>
          </a:xfrm>
          <a:prstGeom prst="downArrow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4287" y="4370832"/>
            <a:ext cx="4999377" cy="960120"/>
          </a:xfrm>
          <a:prstGeom prst="roundRect">
            <a:avLst>
              <a:gd name="adj" fmla="val 6087"/>
            </a:avLst>
          </a:prstGeom>
          <a:solidFill>
            <a:srgbClr val="2A1618"/>
          </a:solidFill>
          <a:ln w="15875">
            <a:solidFill>
              <a:srgbClr val="C97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25368" y="441655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E39999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STATUS_ACCESS_DENIED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68502" y="4828032"/>
            <a:ext cx="2326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0xC0000022, registration is rejected.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41724" y="1673352"/>
            <a:ext cx="6239966" cy="4160520"/>
          </a:xfrm>
          <a:prstGeom prst="roundRect">
            <a:avLst>
              <a:gd name="adj" fmla="val 1758"/>
            </a:avLst>
          </a:prstGeom>
          <a:solidFill>
            <a:srgbClr val="1E2426"/>
          </a:solidFill>
          <a:ln w="12700">
            <a:solidFill>
              <a:srgbClr val="9FB0A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FD9971-F082-4B88-8D86-F5EFF7F97242}"/>
              </a:ext>
            </a:extLst>
          </p:cNvPr>
          <p:cNvSpPr/>
          <p:nvPr/>
        </p:nvSpPr>
        <p:spPr>
          <a:xfrm>
            <a:off x="9082642" y="4035485"/>
            <a:ext cx="268092" cy="13099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FBC704-D253-49E5-B7C3-745D34A5A2C7}"/>
              </a:ext>
            </a:extLst>
          </p:cNvPr>
          <p:cNvSpPr/>
          <p:nvPr/>
        </p:nvSpPr>
        <p:spPr>
          <a:xfrm>
            <a:off x="9137085" y="4035485"/>
            <a:ext cx="293623" cy="130997"/>
          </a:xfrm>
          <a:prstGeom prst="rect">
            <a:avLst/>
          </a:prstGeom>
          <a:solidFill>
            <a:srgbClr val="1E24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7C8E67E-FFA0-489F-851C-9FE01B4F5E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02" t="30280" r="59238" b="21823"/>
          <a:stretch/>
        </p:blipFill>
        <p:spPr>
          <a:xfrm>
            <a:off x="5777042" y="1728869"/>
            <a:ext cx="6169330" cy="404948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88B454B-3C5D-4120-905B-87256B9BEAA2}"/>
              </a:ext>
            </a:extLst>
          </p:cNvPr>
          <p:cNvSpPr/>
          <p:nvPr/>
        </p:nvSpPr>
        <p:spPr>
          <a:xfrm>
            <a:off x="8890594" y="3989765"/>
            <a:ext cx="246491" cy="1143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ENGINEERING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Registering via PsSetCreateProcessNotifyRoutine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070427" cy="3017520"/>
          </a:xfrm>
          <a:prstGeom prst="roundRect">
            <a:avLst>
              <a:gd name="adj" fmla="val 1277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PspSetCreateProcessNotifyRoutine  pseudocode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49977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if ( (a2 &amp; 2) != 0 )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v10 = 0x20LL;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v10 = 0LL;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if ( !(unsigned int)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MmVerifyCallbackFunctionCheckFlags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(a1, v10) 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0xC0000022LL;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93387" y="1783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=  our NotifyRoutine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=  Extended-callback flag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02735" y="5074920"/>
            <a:ext cx="10430932" cy="1032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OS passes our NotifyRoutine as a1.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9FB0AC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v10 simply flags whether we're registering an Extended callback and that flag decides which branch of the check we hit next.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ENGINEERING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v10 Verification and the Bit Math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309360" cy="2103120"/>
          </a:xfrm>
          <a:prstGeom prst="roundRect">
            <a:avLst>
              <a:gd name="adj" fmla="val 2609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PsSetCreateProcessNotifyRoutineEx pseudocode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5760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NTSTATUS __stdcall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PsSetCreateProcessNotifyRoutineEx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PCREATE_PROCESS_NOTIFY_ROUTINE_EX NotifyRoutine, BOOLEAN Remove)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PspSetCreateProcessNotifyRoutine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(NotifyRoutine,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(unsigned int)(Remove != 0) + 2);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By adding 2, the function forces the “Extended” bit ON regardless of Remove.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SCENARIO A - ADD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4937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Remove = 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51937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(0 != 0) = 0 → 0 + 2 = 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03320" y="48280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0 0 0 0   0 0 1 0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5715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- REMOVE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5989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Remove = 1 (TRUE)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62453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(1 != 0) = 1 → 1 + 2 = 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03320" y="58795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0 0 0 0   0 0 1 1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178040" y="1737360"/>
            <a:ext cx="4480560" cy="4210216"/>
          </a:xfrm>
          <a:prstGeom prst="roundRect">
            <a:avLst>
              <a:gd name="adj" fmla="val 1522"/>
            </a:avLst>
          </a:prstGeom>
          <a:solidFill>
            <a:srgbClr val="24302E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0" y="1965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BITS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98080" y="2423160"/>
            <a:ext cx="411480" cy="411480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46720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1st bit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46720" y="2624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“Remove” flag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98080" y="3200400"/>
            <a:ext cx="411480" cy="411480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04672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2nd bit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04672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“Extended” flag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98080" y="4160520"/>
            <a:ext cx="3840480" cy="0"/>
          </a:xfrm>
          <a:prstGeom prst="line">
            <a:avLst/>
          </a:prstGeom>
          <a:noFill/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98080" y="43434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Both scenarios add +2, so the Extended bit is always forced ON, confirming exactly what v10 tracks in the standard registration path.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ENGINEERING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Reversing MmVerifyCallbackFunctionCheckFlags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675120" cy="4297680"/>
          </a:xfrm>
          <a:prstGeom prst="roundRect">
            <a:avLst>
              <a:gd name="adj" fmla="val 1277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MmVerifyCallbackFunctionCheckFlags pseudocode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6126480" cy="3637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__int64 __fastcall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MmVerifyCallbackFunctionCheckFlags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__int64 a1, int a2)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v3 = 0;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v4 =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MiLockLoadedDataTableEntry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(a1, 1);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if ( v4 )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 !a2 || (a2 &amp; *(_DWORD *)(v4 + 0x68)) != 0 )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v3 = 1;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MiUnlockLoadedDataTableEntry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(v4, 1LL);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v3;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98080" y="1737360"/>
            <a:ext cx="4160520" cy="4297680"/>
          </a:xfrm>
          <a:prstGeom prst="roundRect">
            <a:avLst>
              <a:gd name="adj" fmla="val 1538"/>
            </a:avLst>
          </a:prstGeom>
          <a:solidFill>
            <a:srgbClr val="24302E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18120" y="20574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ONE LINE GATEKEEPS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EVERYTHING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818120" y="2926080"/>
            <a:ext cx="3520440" cy="0"/>
          </a:xfrm>
          <a:prstGeom prst="line">
            <a:avLst/>
          </a:prstGeom>
          <a:noFill/>
          <a:ln w="19050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18120" y="3108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validation collapses to a single if statement: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818120" y="365760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101516"/>
          </a:solidFill>
          <a:ln w="12700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55280" y="36576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!a2 || (a2 &amp; *(v4+0x68)) != 0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18120" y="4754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Deconstructed next →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ENGINEERING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Deconstructing the Check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if (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!a2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|| (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a2 &amp; *(_DWORD *)(v4 + 0x68)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 != 0 )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483864" cy="3429000"/>
          </a:xfrm>
          <a:prstGeom prst="roundRect">
            <a:avLst>
              <a:gd name="adj" fmla="val 2133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926080"/>
            <a:ext cx="502920" cy="502920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!a2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4114800"/>
            <a:ext cx="2843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Ex path is unused, so a2 is 0. The ! flips it to true. Because this is an OR, the CPU short-circuits and passes the check immediately.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52544" y="2606040"/>
            <a:ext cx="3483864" cy="3429000"/>
          </a:xfrm>
          <a:prstGeom prst="roundRect">
            <a:avLst>
              <a:gd name="adj" fmla="val 2133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72584" y="2926080"/>
            <a:ext cx="502920" cy="502920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72584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72584" y="356616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v4 + 0x68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72584" y="4114800"/>
            <a:ext cx="2843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using the Ex variant: the CPU jumps 0x68 bytes forward from the returned structure's base address (v4) to read the target module's flags.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56448" y="2606040"/>
            <a:ext cx="3483864" cy="3429000"/>
          </a:xfrm>
          <a:prstGeom prst="roundRect">
            <a:avLst>
              <a:gd name="adj" fmla="val 2133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76488" y="2926080"/>
            <a:ext cx="502920" cy="502920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76488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76488" y="3566160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a2 &amp; ... != 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76488" y="4114800"/>
            <a:ext cx="2843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final check, a bitwise AND compares the requested flags against the driver's flags. Non-zero means at least one requested flag is active.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ENGINEERING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Reversing MiLockLoadedDataTableEntry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943600" cy="4846320"/>
          </a:xfrm>
          <a:prstGeom prst="roundRect">
            <a:avLst>
              <a:gd name="adj" fmla="val 1277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MiLockLoadedDataTableEntry pseudocode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__int64 __fastcall 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MiLockLoadedDataTableEntry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__int64 a1, int a2)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MiAcquireLoadLock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(0LL);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v6 = 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MmFindDataTableEntryByAddress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(a1);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if ( v6 )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MiLockLoaderEntry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(v6, a2==0?2:0);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v6;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else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MmReleaseLoadLockShared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(v5);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0LL;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2084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SUCCESS PATH TRACE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20840" y="2148840"/>
            <a:ext cx="4937760" cy="960120"/>
          </a:xfrm>
          <a:prstGeom prst="roundRect">
            <a:avLst>
              <a:gd name="adj" fmla="val 5714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49440" y="22402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MiAcquireLoadLock(0)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949440" y="266090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Locks the global loader list to prevent races.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079992" y="3163824"/>
            <a:ext cx="219456" cy="237744"/>
          </a:xfrm>
          <a:prstGeom prst="downArrow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720840" y="3493008"/>
            <a:ext cx="4937760" cy="960120"/>
          </a:xfrm>
          <a:prstGeom prst="roundRect">
            <a:avLst>
              <a:gd name="adj" fmla="val 5714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0" y="35844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MmFindDataTableEntryByAddress(a1)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49440" y="40050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Locates the driver struct using our NotifyRoutine address.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079992" y="4507992"/>
            <a:ext cx="219456" cy="237744"/>
          </a:xfrm>
          <a:prstGeom prst="downArrow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20840" y="4837176"/>
            <a:ext cx="4937760" cy="960120"/>
          </a:xfrm>
          <a:prstGeom prst="roundRect">
            <a:avLst>
              <a:gd name="adj" fmla="val 5714"/>
            </a:avLst>
          </a:prstGeom>
          <a:solidFill>
            <a:srgbClr val="24302E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492861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if ( entry found )  →  TRUE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49440" y="5349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Module was found i.e. target if block reached.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20840" y="59436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the entry isn't found, everything crumbles here, straight to STATUS_ACCESS_DENIED.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ENGINEERING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Reversing MmFindDataTableEntryByAddress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59"/>
            <a:ext cx="6675120" cy="4965591"/>
          </a:xfrm>
          <a:prstGeom prst="roundRect">
            <a:avLst>
              <a:gd name="adj" fmla="val 1277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MmFindDataTableEntryByAddress pseudocode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85999"/>
            <a:ext cx="6126480" cy="4257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_QWORD *__fastcall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MmFindDataTableEntryByAddress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unsigned __int64 a1)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v2 = (_QWORD *)MmLoadedModuleTree;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 v2 )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v3 = *(v2 - 20);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 a1 &gt; v3 + (size-1) 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v2 = (_QWORD *)v2[1];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 a1 &gt;= v3 ) break;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v2 = (_QWORD *)*v2;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v2 ? v2 - 26 : 0LL;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98080" y="1737360"/>
            <a:ext cx="4160520" cy="4297680"/>
          </a:xfrm>
          <a:prstGeom prst="roundRect">
            <a:avLst>
              <a:gd name="adj" fmla="val 1538"/>
            </a:avLst>
          </a:prstGeom>
          <a:solidFill>
            <a:srgbClr val="24302E"/>
          </a:solidFill>
          <a:ln w="15875">
            <a:solidFill>
              <a:srgbClr val="7DB0A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18120" y="20116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TREE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18120" y="242316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This function walks MmLoadedModuleTree. A linear list would make every callback and process launch laggy</a:t>
            </a:r>
            <a:r>
              <a:rPr lang="en-US" sz="1350" dirty="0">
                <a:solidFill>
                  <a:srgbClr val="F2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O(n) is too slow.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818120" y="3840480"/>
            <a:ext cx="3520440" cy="0"/>
          </a:xfrm>
          <a:prstGeom prst="line">
            <a:avLst/>
          </a:prstGeom>
          <a:noFill/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18120" y="40233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this lookup fails, everything crumbles to STATUS_ACCESS_DENIED. Crafting a payload this function accepts is the whole game.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818120" y="52578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1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NEXT: UNCOVERING HIDDEN KERNEL STRUCTURES →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HIDDEN KERNEL STRUCTURE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Node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2926080"/>
          </a:xfrm>
          <a:prstGeom prst="roundRect">
            <a:avLst>
              <a:gd name="adj" fmla="val 2500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73152" cy="2926080"/>
          </a:xfrm>
          <a:prstGeom prst="roundRect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10241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 know the OS uses </a:t>
            </a: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MmLoadedModuleTree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to keep track of callback, it's the tree we'll need to insert our </a:t>
            </a:r>
            <a:r>
              <a:rPr lang="en-US" sz="2000" dirty="0">
                <a:solidFill>
                  <a:srgbClr val="F2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into.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But we still don't know what structure the OS is using, or what the actual nodes look like.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Let's look at the disassembly.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HIDDEN KERNEL STRUCTURE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-ve Offsets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30788"/>
            <a:ext cx="5852160" cy="1828800"/>
          </a:xfrm>
          <a:prstGeom prst="roundRect">
            <a:avLst>
              <a:gd name="adj" fmla="val 3000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933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Disassembly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.text:...  mov ecx, [rdx-90h]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.text:...  mov r8, [rdx-0A0h]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5852160" cy="2148840"/>
          </a:xfrm>
          <a:prstGeom prst="roundRect">
            <a:avLst>
              <a:gd name="adj" fmla="val 2979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rdx pointed to the top of a standard structure, reading backwards would mean touching out-of-bounds memory. rdx cannot be at the start of the structure.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720840" y="1828800"/>
            <a:ext cx="4919472" cy="4206240"/>
          </a:xfrm>
          <a:prstGeom prst="roundRect">
            <a:avLst>
              <a:gd name="adj" fmla="val 1522"/>
            </a:avLst>
          </a:prstGeom>
          <a:solidFill>
            <a:srgbClr val="24302E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0" y="2103120"/>
            <a:ext cx="4279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2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INTRUSIVE DATA STRUCTURES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40880" y="2606040"/>
            <a:ext cx="4279392" cy="2928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Windows heavily relies on intrusive data structures like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_RTL_BALANCED_NODE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to link items in a Red-Black tree.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node pointing to data, the node is physically embedded inside the data.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rdx is currently pointing at that embedded node.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HIDDEN KERNEL STRUCTURE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Proving Left / Right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852160" cy="2286000"/>
          </a:xfrm>
          <a:prstGeom prst="roundRect">
            <a:avLst>
              <a:gd name="adj" fmla="val 2400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933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Disassembly excerpt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mov     rdx, [rdx]        </a:t>
            </a: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; Go Left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mov     rdx, [rdx+8]      </a:t>
            </a: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; Go Right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5852160" cy="1691640"/>
          </a:xfrm>
          <a:prstGeom prst="roundRect">
            <a:avLst>
              <a:gd name="adj" fmla="val 3784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45720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[rdx]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is shorthand for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[rdx+0]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 The match is perfect, we've proven rdx is an embedded _RTL_BALANCED_NODE.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720840" y="1828800"/>
            <a:ext cx="4919472" cy="4206240"/>
          </a:xfrm>
          <a:prstGeom prst="roundRect">
            <a:avLst>
              <a:gd name="adj" fmla="val 1522"/>
            </a:avLst>
          </a:prstGeom>
          <a:solidFill>
            <a:srgbClr val="1E2426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0" y="2084832"/>
            <a:ext cx="4279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_RTL_BALANCED_NODE (so far)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040880" y="2651760"/>
            <a:ext cx="4279392" cy="548640"/>
          </a:xfrm>
          <a:prstGeom prst="roundRect">
            <a:avLst>
              <a:gd name="adj" fmla="val 8333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78040" y="2651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+0x0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92440" y="2651760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_RTL_BALANCED_NODE*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Left;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40880" y="3337560"/>
            <a:ext cx="4279392" cy="548640"/>
          </a:xfrm>
          <a:prstGeom prst="roundRect">
            <a:avLst>
              <a:gd name="adj" fmla="val 8333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78040" y="33375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+0x8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92440" y="3337560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_RTL_BALANCED_NODE*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Right;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040880" y="4251960"/>
            <a:ext cx="4279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1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Two children. Two directions. Nothing else fits this pattern.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HIDDEN KERNEL STRUCTURE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Top of the Structure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828800"/>
          </a:xfrm>
          <a:prstGeom prst="roundRect">
            <a:avLst>
              <a:gd name="adj" fmla="val 3000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93392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Disassembly excerpt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lea     rax, [rdx-0D0h]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jmp     short loc_14036E115 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; (Returns rax)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1091672" cy="2103120"/>
          </a:xfrm>
          <a:prstGeom prst="roundRect">
            <a:avLst>
              <a:gd name="adj" fmla="val 3478"/>
            </a:avLst>
          </a:prstGeom>
          <a:solidFill>
            <a:srgbClr val="24302E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10378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When the kernel returns the actual driver entry, it takes our node pointer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rdx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and subtracts exactly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0xD0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top of our mystery structure sits 0xD0 bytes above the embedded _RTL_BALANCED_NODE.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HIDDEN KERNEL STRUCTURE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Mapping What We Know So Far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737360" y="1965960"/>
            <a:ext cx="8686800" cy="457200"/>
          </a:xfrm>
          <a:prstGeom prst="roundRect">
            <a:avLst>
              <a:gd name="adj" fmla="val 10000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737360" y="19659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_ASSUMED_AVL_ENTRY_STRUCTURE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737360" y="2423160"/>
            <a:ext cx="868680" cy="594360"/>
          </a:xfrm>
          <a:prstGeom prst="rect">
            <a:avLst/>
          </a:prstGeom>
          <a:solidFill>
            <a:srgbClr val="101516"/>
          </a:solidFill>
          <a:ln w="9525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37360" y="242316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0x00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606040" y="2423160"/>
            <a:ext cx="7818120" cy="594360"/>
          </a:xfrm>
          <a:prstGeom prst="rect">
            <a:avLst/>
          </a:prstGeom>
          <a:solidFill>
            <a:srgbClr val="191F21"/>
          </a:solidFill>
          <a:ln w="9525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2423160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( 0x30 bytes of unknown data 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737360" y="3017520"/>
            <a:ext cx="868680" cy="548640"/>
          </a:xfrm>
          <a:prstGeom prst="rect">
            <a:avLst/>
          </a:prstGeom>
          <a:solidFill>
            <a:srgbClr val="2A2410"/>
          </a:solidFill>
          <a:ln w="12700">
            <a:solidFill>
              <a:srgbClr val="D8B9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37360" y="30175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0x30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606040" y="3017520"/>
            <a:ext cx="7818120" cy="548640"/>
          </a:xfrm>
          <a:prstGeom prst="rect">
            <a:avLst/>
          </a:prstGeom>
          <a:solidFill>
            <a:srgbClr val="1E2015"/>
          </a:solidFill>
          <a:ln w="9525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34640" y="301752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ULONGLONG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UnknownField1;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				// r8, [rdx-0A0h]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737360" y="3566160"/>
            <a:ext cx="868680" cy="548640"/>
          </a:xfrm>
          <a:prstGeom prst="rect">
            <a:avLst/>
          </a:prstGeom>
          <a:solidFill>
            <a:srgbClr val="2A2410"/>
          </a:solidFill>
          <a:ln w="12700">
            <a:solidFill>
              <a:srgbClr val="D8B9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37360" y="35661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0x40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606040" y="3566160"/>
            <a:ext cx="7818120" cy="548640"/>
          </a:xfrm>
          <a:prstGeom prst="rect">
            <a:avLst/>
          </a:prstGeom>
          <a:solidFill>
            <a:srgbClr val="1E2015"/>
          </a:solidFill>
          <a:ln w="9525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34640" y="356616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DWORD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UnknownField2;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				// ecx, [rdx-90h]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737360" y="4114800"/>
            <a:ext cx="868680" cy="548640"/>
          </a:xfrm>
          <a:prstGeom prst="rect">
            <a:avLst/>
          </a:prstGeom>
          <a:solidFill>
            <a:srgbClr val="101516"/>
          </a:solidFill>
          <a:ln w="9525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37360" y="4114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⋮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606040" y="4114800"/>
            <a:ext cx="7818120" cy="548640"/>
          </a:xfrm>
          <a:prstGeom prst="rect">
            <a:avLst/>
          </a:prstGeom>
          <a:solidFill>
            <a:srgbClr val="191F21"/>
          </a:solidFill>
          <a:ln w="9525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06040" y="4114800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 more unknown data… 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737360" y="4663440"/>
            <a:ext cx="868680" cy="1417320"/>
          </a:xfrm>
          <a:prstGeom prst="rect">
            <a:avLst/>
          </a:prstGeom>
          <a:solidFill>
            <a:srgbClr val="16211F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737360" y="4663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0xD0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37360" y="57150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0xE8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606040" y="4663440"/>
            <a:ext cx="7818120" cy="1417320"/>
          </a:xfrm>
          <a:prstGeom prst="rect">
            <a:avLst/>
          </a:prstGeom>
          <a:solidFill>
            <a:srgbClr val="16211F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06040" y="4663440"/>
            <a:ext cx="45720" cy="1417320"/>
          </a:xfrm>
          <a:prstGeom prst="rect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34640" y="4775553"/>
            <a:ext cx="73152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struct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_RTL_BALANCED_NODE</a:t>
            </a: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← rdx pointer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lnSpc>
                <a:spcPct val="130000"/>
              </a:lnSpc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_RTL_BALANCED_NODE*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Left;				</a:t>
            </a:r>
            <a:r>
              <a:rPr lang="en-US" sz="1100" i="1" dirty="0">
                <a:solidFill>
                  <a:srgbClr val="6B7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+0x00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lnSpc>
                <a:spcPct val="130000"/>
              </a:lnSpc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_RTL_BALANCED_NODE*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Right;				</a:t>
            </a:r>
            <a:r>
              <a:rPr lang="en-US" sz="1100" i="1" dirty="0">
                <a:solidFill>
                  <a:srgbClr val="6B7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+0x08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lnSpc>
                <a:spcPct val="130000"/>
              </a:lnSpc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ULONGLONG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ParentValue;				</a:t>
            </a:r>
            <a:r>
              <a:rPr lang="en-US" sz="1100" i="1" dirty="0">
                <a:solidFill>
                  <a:srgbClr val="6B7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+0x10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737360" y="6080760"/>
            <a:ext cx="868680" cy="502920"/>
          </a:xfrm>
          <a:prstGeom prst="rect">
            <a:avLst/>
          </a:prstGeom>
          <a:solidFill>
            <a:srgbClr val="101516"/>
          </a:solidFill>
          <a:ln w="9525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737360" y="60807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⋮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606040" y="6080760"/>
            <a:ext cx="7818120" cy="502920"/>
          </a:xfrm>
          <a:prstGeom prst="rect">
            <a:avLst/>
          </a:prstGeom>
          <a:solidFill>
            <a:srgbClr val="191F21"/>
          </a:solidFill>
          <a:ln w="9525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06040" y="608076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 unknown end of structure… 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HIDDEN KERNEL STRUCTURE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Unknown Variables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39" y="1828800"/>
            <a:ext cx="6478647" cy="3017520"/>
          </a:xfrm>
          <a:prstGeom prst="roundRect">
            <a:avLst>
              <a:gd name="adj" fmla="val 1818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59" y="1993392"/>
            <a:ext cx="58896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Disassembly boundary check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61264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dec     ecx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add     rcx, r8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cmp     r9, rcx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lnSpc>
                <a:spcPct val="135000"/>
              </a:lnSpc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ja      short loc_14036E11B </a:t>
            </a:r>
            <a:r>
              <a:rPr lang="en-US" sz="1400" i="1" dirty="0">
                <a:solidFill>
                  <a:srgbClr val="6B7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Right node of RTL_BALANCED_NODE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cmp     r9, r8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>
              <a:lnSpc>
                <a:spcPct val="135000"/>
              </a:lnSpc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jnb     short loc_14036E10E </a:t>
            </a:r>
            <a:r>
              <a:rPr lang="en-US" sz="1400" i="1" dirty="0">
                <a:solidFill>
                  <a:srgbClr val="6B7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Left node of RTL_BALANCED_NODE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mov     rdx, [rdx]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39" y="4983480"/>
            <a:ext cx="6478647" cy="1508760"/>
          </a:xfrm>
          <a:prstGeom prst="roundRect">
            <a:avLst>
              <a:gd name="adj" fmla="val 4242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5166360"/>
            <a:ext cx="598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Base Address + (Size − 1) = End Boundary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only concept in memory search that fits this math.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223760" y="1828800"/>
            <a:ext cx="4416552" cy="1737360"/>
          </a:xfrm>
          <a:prstGeom prst="roundRect">
            <a:avLst>
              <a:gd name="adj" fmla="val 4211"/>
            </a:avLst>
          </a:prstGeom>
          <a:solidFill>
            <a:srgbClr val="24302E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47328" y="2011680"/>
            <a:ext cx="170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r8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00550" y="2606040"/>
            <a:ext cx="38197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 Address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00550" y="3035808"/>
            <a:ext cx="38197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offset +0x30 from the top of the structure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223760" y="3794760"/>
            <a:ext cx="4416552" cy="1737360"/>
          </a:xfrm>
          <a:prstGeom prst="roundRect">
            <a:avLst>
              <a:gd name="adj" fmla="val 4211"/>
            </a:avLst>
          </a:prstGeom>
          <a:solidFill>
            <a:srgbClr val="24302E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47328" y="3977640"/>
            <a:ext cx="170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ecx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00550" y="4572000"/>
            <a:ext cx="38197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Size (in bytes)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00550" y="5001768"/>
            <a:ext cx="38197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offset +0x40 from the top of the structure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HIDDEN KERNEL STRUCTURE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the Dots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78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with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 Address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near the top and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field shortly after is a familiar shape in the Windows loader.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5385816" cy="2377440"/>
          </a:xfrm>
          <a:prstGeom prst="roundRect">
            <a:avLst>
              <a:gd name="adj" fmla="val 3077"/>
            </a:avLst>
          </a:prstGeom>
          <a:solidFill>
            <a:srgbClr val="1E2426"/>
          </a:solidFill>
          <a:ln w="15875">
            <a:solidFill>
              <a:srgbClr val="7C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C9CC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_KLDR_DATA_TABLE_ENTRY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4480560"/>
            <a:ext cx="4014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DllBase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45736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+0x30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5074920"/>
            <a:ext cx="4014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SizeOfImage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45736" y="5074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+0x40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54496" y="3657600"/>
            <a:ext cx="5385816" cy="2377440"/>
          </a:xfrm>
          <a:prstGeom prst="roundRect">
            <a:avLst>
              <a:gd name="adj" fmla="val 3077"/>
            </a:avLst>
          </a:prstGeom>
          <a:solidFill>
            <a:srgbClr val="24302E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74536" y="3886200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Deduced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74536" y="4480560"/>
            <a:ext cx="4014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r8 → Base Address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451592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+0x30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74536" y="5074920"/>
            <a:ext cx="4014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ecx → Size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51592" y="5074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+0x40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HIDDEN KERNEL STRUCTURE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Final Structure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737360" y="1920240"/>
            <a:ext cx="8686800" cy="457200"/>
          </a:xfrm>
          <a:prstGeom prst="roundRect">
            <a:avLst>
              <a:gd name="adj" fmla="val 10000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737360" y="1920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0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_ASSUMED_AVL_ENTRY_STRUCTURE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737360" y="2377440"/>
            <a:ext cx="868680" cy="1737360"/>
          </a:xfrm>
          <a:prstGeom prst="rect">
            <a:avLst/>
          </a:prstGeom>
          <a:solidFill>
            <a:srgbClr val="141C24"/>
          </a:solidFill>
          <a:ln w="15875">
            <a:solidFill>
              <a:srgbClr val="7C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37360" y="2377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C9CC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0x00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37360" y="37490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C9CC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0xA0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06040" y="2377440"/>
            <a:ext cx="7818120" cy="1737360"/>
          </a:xfrm>
          <a:prstGeom prst="rect">
            <a:avLst/>
          </a:prstGeom>
          <a:solidFill>
            <a:srgbClr val="141C24"/>
          </a:solidFill>
          <a:ln w="15875">
            <a:solidFill>
              <a:srgbClr val="7C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06040" y="2377440"/>
            <a:ext cx="45720" cy="1737360"/>
          </a:xfrm>
          <a:prstGeom prst="rect">
            <a:avLst/>
          </a:prstGeom>
          <a:solidFill>
            <a:srgbClr val="7C9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2487168"/>
            <a:ext cx="73152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struct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C9CC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_KLDR_DATA_TABLE_ENTRY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555F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… (other fields) …</a:t>
            </a:r>
          </a:p>
          <a:p>
            <a:pPr lvl="0">
              <a:lnSpc>
                <a:spcPct val="132000"/>
              </a:lnSpc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VOID* </a:t>
            </a:r>
            <a:r>
              <a:rPr lang="en-US" sz="1300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DllBase;					</a:t>
            </a:r>
            <a:r>
              <a:rPr lang="en-US" sz="1100" i="1" dirty="0">
                <a:solidFill>
                  <a:srgbClr val="6B7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+0x30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VOID*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EntryPoint;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					// +0x38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ULONG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SizeOfImage;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				// +0x40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555F6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… (other fields) …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37360" y="4114800"/>
            <a:ext cx="868680" cy="457200"/>
          </a:xfrm>
          <a:prstGeom prst="rect">
            <a:avLst/>
          </a:prstGeom>
          <a:solidFill>
            <a:srgbClr val="101516"/>
          </a:solidFill>
          <a:ln w="9525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41148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⋮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06040" y="4114800"/>
            <a:ext cx="7818120" cy="457200"/>
          </a:xfrm>
          <a:prstGeom prst="rect">
            <a:avLst/>
          </a:prstGeom>
          <a:solidFill>
            <a:srgbClr val="191F21"/>
          </a:solidFill>
          <a:ln w="9525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06040" y="4114800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BYTE padding[0x30];   // 48 bytes (Win11)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737360" y="4572000"/>
            <a:ext cx="868680" cy="1417320"/>
          </a:xfrm>
          <a:prstGeom prst="rect">
            <a:avLst/>
          </a:prstGeom>
          <a:solidFill>
            <a:srgbClr val="16211F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37360" y="45720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0xD0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37360" y="5623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0xE8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606040" y="4572000"/>
            <a:ext cx="7818120" cy="1417320"/>
          </a:xfrm>
          <a:prstGeom prst="rect">
            <a:avLst/>
          </a:prstGeom>
          <a:solidFill>
            <a:srgbClr val="16211F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06040" y="4572000"/>
            <a:ext cx="45720" cy="1417320"/>
          </a:xfrm>
          <a:prstGeom prst="rect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34640" y="4681728"/>
            <a:ext cx="73152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struct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_RTL_BALANCED_NODE</a:t>
            </a: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← rdx pointer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_RTL_BALANCED_NODE*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Left;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_RTL_BALANCED_NODE*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Right;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ULONGLONG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ParentValue;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737360" y="6126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0x30-byte gap with standard padding aligns the embedded node exactly at offset 0xD0.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7955280" y="2011680"/>
            <a:ext cx="1005840" cy="822960"/>
          </a:xfrm>
          <a:prstGeom prst="line">
            <a:avLst/>
          </a:prstGeom>
          <a:noFill/>
          <a:ln w="15875">
            <a:solidFill>
              <a:srgbClr val="7DB0A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61120" y="2011680"/>
            <a:ext cx="1005840" cy="822960"/>
          </a:xfrm>
          <a:prstGeom prst="line">
            <a:avLst/>
          </a:prstGeom>
          <a:noFill/>
          <a:ln w="15875">
            <a:solidFill>
              <a:srgbClr val="7DB0A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flipH="1">
            <a:off x="7379208" y="2834640"/>
            <a:ext cx="576072" cy="822960"/>
          </a:xfrm>
          <a:prstGeom prst="line">
            <a:avLst/>
          </a:prstGeom>
          <a:noFill/>
          <a:ln w="15875">
            <a:solidFill>
              <a:srgbClr val="7DB0A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55280" y="2834640"/>
            <a:ext cx="539496" cy="795528"/>
          </a:xfrm>
          <a:prstGeom prst="line">
            <a:avLst/>
          </a:prstGeom>
          <a:noFill/>
          <a:ln w="15875">
            <a:solidFill>
              <a:srgbClr val="7DB0A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H="1">
            <a:off x="9518904" y="2834640"/>
            <a:ext cx="448056" cy="822960"/>
          </a:xfrm>
          <a:prstGeom prst="line">
            <a:avLst/>
          </a:prstGeom>
          <a:noFill/>
          <a:ln w="15875">
            <a:solidFill>
              <a:srgbClr val="7DB0A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66960" y="2834640"/>
            <a:ext cx="548640" cy="795528"/>
          </a:xfrm>
          <a:prstGeom prst="line">
            <a:avLst/>
          </a:prstGeom>
          <a:noFill/>
          <a:ln w="15875">
            <a:solidFill>
              <a:srgbClr val="7DB0A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796528" y="1847088"/>
            <a:ext cx="329184" cy="329184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45552" y="2724912"/>
            <a:ext cx="219456" cy="219456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857232" y="2724912"/>
            <a:ext cx="219456" cy="219456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24344" y="3575304"/>
            <a:ext cx="164592" cy="164592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21624" y="3575304"/>
            <a:ext cx="164592" cy="164592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336024" y="3575304"/>
            <a:ext cx="164592" cy="164592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433304" y="3575304"/>
            <a:ext cx="164592" cy="164592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Bypass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2286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We now know exactly what the kernel expects.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Time to forge it.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3566160" cy="2423160"/>
          </a:xfrm>
          <a:prstGeom prst="roundRect">
            <a:avLst>
              <a:gd name="adj" fmla="val 3019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Allocate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4754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Reserve non-paged kernel memory for the fake structure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389120" y="3520440"/>
            <a:ext cx="3566160" cy="2423160"/>
          </a:xfrm>
          <a:prstGeom prst="roundRect">
            <a:avLst>
              <a:gd name="adj" fmla="val 3019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3703320"/>
            <a:ext cx="457200" cy="457200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6344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Populate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63440" y="4754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Fill in DllBase, SizeOfImage, linked lists, strings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229600" y="3520440"/>
            <a:ext cx="3566160" cy="2423160"/>
          </a:xfrm>
          <a:prstGeom prst="roundRect">
            <a:avLst>
              <a:gd name="adj" fmla="val 3019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503920" y="3703320"/>
            <a:ext cx="457200" cy="457200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039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50392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Inject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03920" y="4754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Acquire the lock, insert the node, release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Structure in Code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0" cy="3246120"/>
          </a:xfrm>
          <a:prstGeom prst="roundRect">
            <a:avLst>
              <a:gd name="adj" fmla="val 1690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kern="0" spc="150" dirty="0">
                <a:solidFill>
                  <a:srgbClr val="9F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 reverse-engineered structure as C code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_ASSUMED_AVL_ENTRY_STRUCTURE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_KLDR_DATA_TABLE_ENTRY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Kldr_data_table_entry;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 BYTE padding[0x48];  	// Win10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BYTE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padding[0x30];          	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 Win11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_RTL_BALANCED_NODE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Balanced_node;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ASSUMED_AVL_ENTRY_STRUCTURE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, *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PASSUMED_AVL_ENTRY_STRUCTURE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26680" y="173736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1E2426"/>
          </a:solidFill>
          <a:ln w="15875">
            <a:solidFill>
              <a:srgbClr val="7C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26680" y="1737360"/>
            <a:ext cx="45720" cy="1417320"/>
          </a:xfrm>
          <a:prstGeom prst="rect">
            <a:avLst/>
          </a:prstGeom>
          <a:solidFill>
            <a:srgbClr val="7C9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55280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7C9CC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0x00 – 0xA0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55280" y="2121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_KLDR_DATA_TABLE_ENTRY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55280" y="248716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well-known loader struct. Contains DllBase, SizeOfImage, names.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26680" y="329184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1E2426"/>
          </a:solidFill>
          <a:ln w="15875">
            <a:solidFill>
              <a:srgbClr val="9FB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26680" y="3291840"/>
            <a:ext cx="45720" cy="1417320"/>
          </a:xfrm>
          <a:prstGeom prst="rect">
            <a:avLst/>
          </a:prstGeom>
          <a:solidFill>
            <a:srgbClr val="9FB0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5528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0xA0 – 0xD0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55280" y="3675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BYTE padding[0x30]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55280" y="40416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48 bytes of undocumented Win11 kernel data. Bridging the gap.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26680" y="4846320"/>
            <a:ext cx="3931920" cy="1417320"/>
          </a:xfrm>
          <a:prstGeom prst="roundRect">
            <a:avLst>
              <a:gd name="adj" fmla="val 4516"/>
            </a:avLst>
          </a:prstGeom>
          <a:solidFill>
            <a:srgbClr val="1E2426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26680" y="4846320"/>
            <a:ext cx="45720" cy="1417320"/>
          </a:xfrm>
          <a:prstGeom prst="rect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55280" y="4956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0xD0 – 0xE8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55280" y="52303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_RTL_BALANCED_NODE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55280" y="55961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embedded tree node. This is what the kernel traverses.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Memory Allocation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0" cy="4297680"/>
          </a:xfrm>
          <a:prstGeom prst="roundRect">
            <a:avLst>
              <a:gd name="adj" fmla="val 1277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Callback_Integrity_Bypass.cpp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6309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g_pASSUMED_AVL_ENTRY_STRUCTURE = (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PASSUMED_AVL_ENTRY_STRUCTURE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ExAllocatePool2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POOL_FLAG_NON_PAGED,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sizeof(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_ASSUMED_AVL_ENTRY_STRUCTURE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'BESD');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(!g_pASSUMED_AVL_ENTRY_STRUCTURE)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LOG_W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"[-] Failed to allocate...\n"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STATUS_INSUFFICIENT_RESOURCES;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RtlZeroMemory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(g_pASSUMED_AVL_ENTRY_STRUCTURE,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sizeof(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_ASSUMED_AVL_ENTRY_STRUCTURE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26680" y="2061972"/>
            <a:ext cx="3931920" cy="1325880"/>
          </a:xfrm>
          <a:prstGeom prst="roundRect">
            <a:avLst>
              <a:gd name="adj" fmla="val 4828"/>
            </a:avLst>
          </a:prstGeom>
          <a:solidFill>
            <a:srgbClr val="1E2426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01000" y="21717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POOL_FLAG_NON_PAGED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01000" y="25374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must never page this allocation to disk. If it does while a thread is walking the module tree, the result is an immediate BSOD.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26680" y="4457700"/>
            <a:ext cx="3931920" cy="1325880"/>
          </a:xfrm>
          <a:prstGeom prst="roundRect">
            <a:avLst>
              <a:gd name="adj" fmla="val 4828"/>
            </a:avLst>
          </a:prstGeom>
          <a:solidFill>
            <a:srgbClr val="1E2426"/>
          </a:solidFill>
          <a:ln w="15875">
            <a:solidFill>
              <a:srgbClr val="7C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01000" y="45674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C9CC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RtlZeroMemory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01000" y="49149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Zeroing prevents garbage data from causing unpredictable behavior. Never skip this for a structure the kernel will actively dereference.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Populating Core Fields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463040"/>
          </a:xfrm>
          <a:prstGeom prst="roundRect">
            <a:avLst>
              <a:gd name="adj" fmla="val 3750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Initializing the linked list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InitializeListHead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(&amp;g_pASSUMED_AVL_ENTRY_STRUCTURE-&gt;Kldr_data_table_entry.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InLoadOrderLinks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593592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fields MmFindDataTableEntryByAddress uses to sort the tree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g_pASSUMED_AVL_ENTRY_STRUCTURE-&gt;Kldr_data_table_entry.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DllBase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= g_pDriverImageBase;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g_pASSUMED_AVL_ENTRY_STRUCTURE-&gt;Kldr_data_table_entry.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SizeOfImage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= g_OurImageSize;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11091672" cy="1371600"/>
          </a:xfrm>
          <a:prstGeom prst="roundRect">
            <a:avLst>
              <a:gd name="adj" fmla="val 5000"/>
            </a:avLst>
          </a:prstGeom>
          <a:solidFill>
            <a:srgbClr val="24302E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5212080"/>
            <a:ext cx="10378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exact same fields deduced in Section 3 —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r8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DllBase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ecx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SizeOfImage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 The reverse-engineered structure is now being built for real.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Populating Strings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315200" cy="4572000"/>
          </a:xfrm>
          <a:prstGeom prst="roundRect">
            <a:avLst>
              <a:gd name="adj" fmla="val 1200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non-paged string allocation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67665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WCHAR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driverNameString[] =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L"\\SystemRoot\\...\\baaaa_bae.sys"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WCHAR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baseNameString[]   =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L"baaaa_bae.sys"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g_pPersistentFullName = 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PWCHAR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ExAllocatePool2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(..., 'strF');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(!g_pPersistentFullName)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goto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cleanup_ldr_entry;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RtlCopyMemory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(g_pPersistentFullName, driverNameString, size);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g_pPersistentBaseName = 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PWCHAR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ExAllocatePool2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(..., 'strB');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(!g_pPersistentBaseName)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goto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cleanup_fullname;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RtlCopyMemory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(g_pPersistentBaseName, baseNameString, size);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RtlInitUnicodeString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(&amp;...FullDllName, g_pPersistentFullName);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RtlInitUnicodeString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(&amp;...BaseDllName, g_pPersistentBaseName);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183880" y="1737360"/>
            <a:ext cx="3474720" cy="4572000"/>
          </a:xfrm>
          <a:prstGeom prst="roundRect">
            <a:avLst>
              <a:gd name="adj" fmla="val 1842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5820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458200" y="2423160"/>
            <a:ext cx="347472" cy="347472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5820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961120" y="240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Allocate (non-paged)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961120" y="26974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Both strings need kernel memory that persists for the lifetime of the bypass.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458200" y="3355848"/>
            <a:ext cx="347472" cy="347472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5820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96112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Check for failure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961120" y="36301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goto cleanup chains ensure we never leak memory on a failed allocation.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458200" y="4288536"/>
            <a:ext cx="347472" cy="347472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58200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961120" y="4270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Copy the data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RtlCopyMemory moves the actual wide-char bytes into our allocation.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58200" y="5221224"/>
            <a:ext cx="347472" cy="347472"/>
          </a:xfrm>
          <a:prstGeom prst="ellipse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458200" y="5221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961120" y="5202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Init the struct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0" y="549554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RtlInitUnicodeString only sets lengths and points Buffer.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Pass a Stack String?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1097280"/>
          </a:xfrm>
          <a:prstGeom prst="roundRect">
            <a:avLst>
              <a:gd name="adj" fmla="val 5833"/>
            </a:avLst>
          </a:prstGeom>
          <a:solidFill>
            <a:srgbClr val="2A1618"/>
          </a:solidFill>
          <a:ln w="15875">
            <a:solidFill>
              <a:srgbClr val="C97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97B7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BAD -&gt; Stack string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WCHAR name[] = L"driver.sys";  // on the stack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RtlInitUnicodeString(&amp;entry.BaseDllName, name);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71800" y="2926080"/>
            <a:ext cx="274320" cy="365760"/>
          </a:xfrm>
          <a:prstGeom prst="downArrow">
            <a:avLst/>
          </a:prstGeom>
          <a:solidFill>
            <a:srgbClr val="C97B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120640" cy="1691640"/>
          </a:xfrm>
          <a:prstGeom prst="roundRect">
            <a:avLst>
              <a:gd name="adj" fmla="val 3784"/>
            </a:avLst>
          </a:prstGeom>
          <a:solidFill>
            <a:srgbClr val="2A1618"/>
          </a:solidFill>
          <a:ln w="15875">
            <a:solidFill>
              <a:srgbClr val="C97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97B7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returns and the stack is destroyed.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BaseDllName.Buffer now points into garbage memory. Next time a kernel routine reads the module name it dereferences a dangling pointer.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2A1618"/>
          </a:solidFill>
          <a:ln w="19050">
            <a:solidFill>
              <a:srgbClr val="C97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5212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97B7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BSOD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5120640" cy="1097280"/>
          </a:xfrm>
          <a:prstGeom prst="roundRect">
            <a:avLst>
              <a:gd name="adj" fmla="val 5833"/>
            </a:avLst>
          </a:prstGeom>
          <a:solidFill>
            <a:srgbClr val="1C2725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CORRECT -&gt; Non-paged heap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55080" y="2194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g_pPersistentBaseName = ExAllocatePool2(...);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RtlCopyMemory(g_pPersistentBaseName, name, size);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549640" y="2926080"/>
            <a:ext cx="274320" cy="365760"/>
          </a:xfrm>
          <a:prstGeom prst="downArrow">
            <a:avLst/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3383280"/>
            <a:ext cx="5120640" cy="1691640"/>
          </a:xfrm>
          <a:prstGeom prst="roundRect">
            <a:avLst>
              <a:gd name="adj" fmla="val 3784"/>
            </a:avLst>
          </a:prstGeom>
          <a:solidFill>
            <a:srgbClr val="1C2725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3520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returns and the heap stays alive.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55080" y="38862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BaseDllName.Buffer points to our non-paged allocation. It persists until we free it. The kernel can safely read the driver's name at any time.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26480" y="5212080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1C2725"/>
          </a:solidFill>
          <a:ln w="19050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5212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Memory persists → stable kernel state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Initializing NodeModuleLink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9614034" cy="1417320"/>
          </a:xfrm>
          <a:prstGeom prst="roundRect">
            <a:avLst>
              <a:gd name="adj" fmla="val 3158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334352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Manual equivalent of </a:t>
            </a:r>
            <a:r>
              <a:rPr kumimoji="0" lang="en-US" sz="1100" b="1" i="0" u="none" strike="noStrike" kern="0" cap="none" spc="150" normalizeH="0" baseline="0" noProof="0" dirty="0" err="1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InitializeListHead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93397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g_pFake_LDR_DATA_TABLE_ENTRY-&gt;NodeModuleLink.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Flink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= &amp;g_pFake_LDR_DATA_TABLE_ENTRY-&gt;NodeModuleLink;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g_pFake_LDR_DATA_TABLE_ENTRY-&gt;NodeModuleLink.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Blink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= &amp;g_pFake_LDR_DATA_TABLE_ENTRY-&gt;NodeModuleLink;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6309360" cy="1828800"/>
          </a:xfrm>
          <a:prstGeom prst="roundRect">
            <a:avLst>
              <a:gd name="adj" fmla="val 3500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LIST_ENTRY has two pointers: Flink (Forward) and Blink (Backward). When empty, both point back to their own address, not nullptr. This closed loop prevents crash-inducing null dereferences when any kernel routine walks the list.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086600" y="370332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24302E"/>
          </a:solidFill>
          <a:ln w="19050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60920" y="37856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NodeModuleLink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18120" y="41696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Flink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→  &amp;self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818120" y="4480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Blink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→  &amp;self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Node Setup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175388" cy="4663440"/>
          </a:xfrm>
          <a:prstGeom prst="roundRect">
            <a:avLst>
              <a:gd name="adj" fmla="val 1519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initializing before touching the live tree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07719" y="2285999"/>
            <a:ext cx="6832161" cy="379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 Get pointer to our embedded _RTL_BALANCED_NODE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PRTL_BALANCED_NODE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pNodeToInsert = &amp;g_pASSUMED_AVL_ENTRY_STRUCTURE-&gt;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Balanced_node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 Leaf node, no children, no parent yet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pNodeToInsert-&gt;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pNodeToInsert-&gt;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pNodeToInsert-&gt;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ParentValue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PRTL_BALANCED_NODE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* ppRootNode = static_cast&lt;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PRTL_BALANCED_NODE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*&gt;(g_vpMmLoadedModuleTree);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PRTL_BALANCED_NODE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pRootNode = *ppRootNode;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EC9B0"/>
              </a:solidFill>
              <a:effectLst/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PRTL_BALANCED_NODE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pParentNode =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200" dirty="0">
                <a:solidFill>
                  <a:srgbClr val="D7DE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bInsertAsRight =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001000" y="1737360"/>
            <a:ext cx="3931920" cy="3611880"/>
          </a:xfrm>
          <a:prstGeom prst="roundRect">
            <a:avLst>
              <a:gd name="adj" fmla="val 1772"/>
            </a:avLst>
          </a:prstGeom>
          <a:solidFill>
            <a:srgbClr val="24302E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2366" y="1956021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LEAF NODE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22366" y="2367501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entering a tree starts as a leaf. It has no children yet, so Left and Right are NULL. Its position and parent are determined after the tree is traversed.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322366" y="3693381"/>
            <a:ext cx="3383280" cy="0"/>
          </a:xfrm>
          <a:prstGeom prst="line">
            <a:avLst/>
          </a:prstGeom>
          <a:noFill/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419646" y="3876261"/>
            <a:ext cx="914400" cy="347472"/>
          </a:xfrm>
          <a:prstGeom prst="ellipse">
            <a:avLst/>
          </a:prstGeom>
          <a:solidFill>
            <a:srgbClr val="1E2426"/>
          </a:solidFill>
          <a:ln w="12700">
            <a:solidFill>
              <a:srgbClr val="9FB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419646" y="3876261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parent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876846" y="4223733"/>
            <a:ext cx="0" cy="246888"/>
          </a:xfrm>
          <a:prstGeom prst="line">
            <a:avLst/>
          </a:prstGeom>
          <a:noFill/>
          <a:ln w="12700">
            <a:solidFill>
              <a:srgbClr val="9FB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9D53EEA9-FACD-4BBA-A635-F8F0D352D42B}"/>
              </a:ext>
            </a:extLst>
          </p:cNvPr>
          <p:cNvSpPr/>
          <p:nvPr/>
        </p:nvSpPr>
        <p:spPr>
          <a:xfrm flipH="1">
            <a:off x="9695954" y="4694649"/>
            <a:ext cx="180229" cy="246888"/>
          </a:xfrm>
          <a:prstGeom prst="line">
            <a:avLst/>
          </a:prstGeom>
          <a:noFill/>
          <a:ln w="12700">
            <a:solidFill>
              <a:srgbClr val="9FB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91046" y="4882101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97B7B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NULL  NULL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8AA4771D-0EFA-4925-940A-AA16B4312E4B}"/>
              </a:ext>
            </a:extLst>
          </p:cNvPr>
          <p:cNvSpPr/>
          <p:nvPr/>
        </p:nvSpPr>
        <p:spPr>
          <a:xfrm>
            <a:off x="9876846" y="4717510"/>
            <a:ext cx="180228" cy="224028"/>
          </a:xfrm>
          <a:prstGeom prst="line">
            <a:avLst/>
          </a:prstGeom>
          <a:noFill/>
          <a:ln w="12700">
            <a:solidFill>
              <a:srgbClr val="9FB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419646" y="4470621"/>
            <a:ext cx="914400" cy="347472"/>
          </a:xfrm>
          <a:prstGeom prst="ellipse">
            <a:avLst/>
          </a:prstGeom>
          <a:solidFill>
            <a:srgbClr val="7DB0A5"/>
          </a:solidFill>
          <a:ln w="12700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19646" y="4467241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our node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Acquire the Lock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59"/>
            <a:ext cx="6035040" cy="1220525"/>
          </a:xfrm>
          <a:prstGeom prst="roundRect">
            <a:avLst>
              <a:gd name="adj" fmla="val 5455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Exclusive lock before touching the live tree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ExAcquireResourceExclusiveLite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(g_pPsLoadedModuleResource, </a:t>
            </a: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163824"/>
            <a:ext cx="6035040" cy="2866644"/>
          </a:xfrm>
          <a:prstGeom prst="roundRect">
            <a:avLst>
              <a:gd name="adj" fmla="val 2090"/>
            </a:avLst>
          </a:prstGeom>
          <a:solidFill>
            <a:srgbClr val="2A1618"/>
          </a:solidFill>
          <a:ln w="15875">
            <a:solidFill>
              <a:srgbClr val="C97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289653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C97B7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LOCK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630168"/>
            <a:ext cx="5577840" cy="1910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Windows kernel is highly asynchronous. At any millisecond, another thread may be loading a driver, unloading a module, or querying the tree.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Modifying tree pointers while another thread reads them creates a race condition which can lead into corrupted pointers, memory violations</a:t>
            </a:r>
            <a:r>
              <a:rPr lang="en-US" sz="1350" dirty="0">
                <a:solidFill>
                  <a:srgbClr val="9F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BSOD.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03720" y="1737360"/>
            <a:ext cx="4754880" cy="4297680"/>
          </a:xfrm>
          <a:prstGeom prst="roundRect">
            <a:avLst>
              <a:gd name="adj" fmla="val 1489"/>
            </a:avLst>
          </a:prstGeom>
          <a:solidFill>
            <a:srgbClr val="1E242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PsLoadedModuleResource PROTECTS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178040" y="246888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06640" y="2542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MmLoadedModuleTree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06640" y="28895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Red-Black tree we're injecting into.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78040" y="356616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06640" y="3639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PsLoadedModuleList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06640" y="39867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conventional loaded-module linked list.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178040" y="466344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06640" y="4736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PsLoadedModuleResource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06640" y="50840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ERESOURCE (executive resource) guarding both.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PHASE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Tree Injection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0" cy="4663440"/>
          </a:xfrm>
          <a:prstGeom prst="roundRect">
            <a:avLst>
              <a:gd name="adj" fmla="val 1290"/>
            </a:avLst>
          </a:prstGeom>
          <a:solidFill>
            <a:srgbClr val="101516"/>
          </a:solidFill>
          <a:ln w="12700">
            <a:solidFill>
              <a:srgbClr val="2E35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0195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Callback_Integrity_Bypass.cpp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6309360" cy="396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 --- CRITICAL SECTION ---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NTSTATUS status =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FindAvlInsertPoint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pRootNode, DllBase, &amp;pParentNode, &amp;bInsertAsRight);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NT_SUCCESS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(status))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pNodeToInsert-&gt;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ParentValue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ULONG_PTR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)pParentNode;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(pParentNode ==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)    // tree was empty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*ppRootNode = pNodeToInsert;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(bInsertAsRight) pParentNode-&gt;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= pNodeToInsert;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 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pParentNode-&gt;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= pNodeToInsert;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6B767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// --- END CRITICAL SECTION ---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ExReleaseResourceLite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D7DED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(g_pPsLoadedModuleResource);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26680" y="1737360"/>
            <a:ext cx="3931920" cy="1143000"/>
          </a:xfrm>
          <a:prstGeom prst="roundRect">
            <a:avLst>
              <a:gd name="adj" fmla="val 5600"/>
            </a:avLst>
          </a:prstGeom>
          <a:solidFill>
            <a:srgbClr val="1E2426"/>
          </a:solidFill>
          <a:ln w="15875">
            <a:solidFill>
              <a:srgbClr val="9FB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01000" y="18470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FindAvlInsertPoint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01000" y="21945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Traverses the live tree by DllBase, returning the correct parent and insertion side. The black box that does the sorting work.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26680" y="3017520"/>
            <a:ext cx="3931920" cy="1143000"/>
          </a:xfrm>
          <a:prstGeom prst="roundRect">
            <a:avLst>
              <a:gd name="adj" fmla="val 5600"/>
            </a:avLst>
          </a:prstGeom>
          <a:solidFill>
            <a:srgbClr val="1E2426"/>
          </a:solidFill>
          <a:ln w="15875">
            <a:solidFill>
              <a:srgbClr val="D8B9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01000" y="31272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8B978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Point our node up ↑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01000" y="3447288"/>
            <a:ext cx="3383280" cy="53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pNodeToInsert-&gt;ParentValue = pParentNode. Our node now knows its parent.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26680" y="4297680"/>
            <a:ext cx="3931920" cy="964131"/>
          </a:xfrm>
          <a:prstGeom prst="roundRect">
            <a:avLst>
              <a:gd name="adj" fmla="val 5600"/>
            </a:avLst>
          </a:prstGeom>
          <a:solidFill>
            <a:srgbClr val="1E2426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01000" y="4407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Point the parent down 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01000" y="468630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pParentNode-&gt;Left or -&gt;Right = pNodeToInsert. The live tree now officially points to our node.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26680" y="5379321"/>
            <a:ext cx="3931920" cy="1143000"/>
          </a:xfrm>
          <a:prstGeom prst="roundRect">
            <a:avLst>
              <a:gd name="adj" fmla="val 5600"/>
            </a:avLst>
          </a:prstGeom>
          <a:solidFill>
            <a:srgbClr val="1E2426"/>
          </a:solidFill>
          <a:ln w="15875">
            <a:solidFill>
              <a:srgbClr val="7C9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01000" y="5467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C9CC4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Release the lock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001000" y="578839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ExReleaseResourceLite immediately frees PsLoadedModuleResource so the rest of the OS can resume normal operations.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2F5F4"/>
                </a:solidFill>
                <a:latin typeface="Cambria" pitchFamily="34" charset="0"/>
                <a:ea typeface="Cambria" pitchFamily="34" charset="-122"/>
              </a:rPr>
              <a:t>Security Configuration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show the result, let’s </a:t>
            </a:r>
            <a:r>
              <a:rPr lang="en-US" sz="1400" i="1" dirty="0">
                <a:solidFill>
                  <a:srgbClr val="9F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the environment.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E2426"/>
          </a:solidFill>
          <a:ln w="12700">
            <a:solidFill>
              <a:srgbClr val="9FB0A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97380" y="333756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24302E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9738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5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WINDOWS VERSION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42816" y="21945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E2426"/>
          </a:solidFill>
          <a:ln w="12700">
            <a:solidFill>
              <a:srgbClr val="9FB0A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91556" y="333756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24302E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91556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08576" y="4160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5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SECURITY SETTINGS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08576" y="4526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Tamper Protection, HVCI all 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36992" y="21945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E2426"/>
          </a:solidFill>
          <a:ln w="12700">
            <a:solidFill>
              <a:srgbClr val="9FB0A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85732" y="333756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24302E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85732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02752" y="4160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5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ELASTIC DEFEND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02752" y="4526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EDR active and enforcing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24302E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22183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Protection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105304" y="5669280"/>
            <a:ext cx="22183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Tamper Protection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37531" y="5664381"/>
            <a:ext cx="22183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b="1" dirty="0">
                <a:solidFill>
                  <a:srgbClr val="7D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Memory Integrity (HVCI)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08085" y="5669280"/>
            <a:ext cx="22183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sz="1300" b="1" dirty="0">
                <a:solidFill>
                  <a:srgbClr val="7D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Driver Blocklist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421978" y="5669280"/>
            <a:ext cx="22183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E29954E-5B69-4E4C-AAC8-6391C12D94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714" t="17681" r="52826" b="42986"/>
          <a:stretch/>
        </p:blipFill>
        <p:spPr>
          <a:xfrm>
            <a:off x="607739" y="2262146"/>
            <a:ext cx="3326060" cy="313679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3D8A9E2-3D92-5C29-ED9A-860A6326D5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208" r="23369"/>
          <a:stretch>
            <a:fillRect/>
          </a:stretch>
        </p:blipFill>
        <p:spPr>
          <a:xfrm>
            <a:off x="4359303" y="2278048"/>
            <a:ext cx="3227831" cy="31367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  <a:softEdge rad="63500"/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B71CF57-5CC6-4F9D-AC26-3E201C8744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3269"/>
          <a:stretch>
            <a:fillRect/>
          </a:stretch>
        </p:blipFill>
        <p:spPr>
          <a:xfrm>
            <a:off x="7986725" y="2259475"/>
            <a:ext cx="3290875" cy="316460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STATUS_ACCESS_DENIED - Gone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2A1618"/>
          </a:solidFill>
          <a:ln w="15875">
            <a:solidFill>
              <a:srgbClr val="C97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C97B7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1E2426"/>
          </a:solidFill>
          <a:ln w="12700">
            <a:solidFill>
              <a:srgbClr val="9FB0A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42748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5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46863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WinDbg — 0xC0000022 STATUS_ACCESS_DENIED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52160" y="4114800"/>
            <a:ext cx="484632" cy="502920"/>
          </a:xfrm>
          <a:prstGeom prst="roundRect">
            <a:avLst>
              <a:gd name="adj" fmla="val 9434"/>
            </a:avLst>
          </a:prstGeom>
          <a:solidFill>
            <a:srgbClr val="7DB0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52160" y="4114800"/>
            <a:ext cx="484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418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611112" y="173736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1C2725"/>
          </a:solidFill>
          <a:ln w="15875">
            <a:solidFill>
              <a:srgbClr val="7DB0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11112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11112" y="22860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1E2426"/>
          </a:solidFill>
          <a:ln w="12700">
            <a:solidFill>
              <a:srgbClr val="9FB0A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76872" y="42748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5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IMAGE PLACEHOLDER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76872" y="46863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1" u="none" strike="noStrike" kern="1200" cap="none" spc="0" normalizeH="0" baseline="0" noProof="0" dirty="0">
                <a:ln>
                  <a:noFill/>
                </a:ln>
                <a:solidFill>
                  <a:srgbClr val="9FB0A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Callback registered — STATUS_SUCCESS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AB5251F-0218-4BCD-A31D-34261EC6E7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029" r="69376" b="24503"/>
          <a:stretch/>
        </p:blipFill>
        <p:spPr>
          <a:xfrm>
            <a:off x="6611112" y="2351314"/>
            <a:ext cx="4957681" cy="40494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1C6C713-30EB-4DF3-883A-A4DBB986D6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01" t="30280" r="67500" b="21823"/>
          <a:stretch/>
        </p:blipFill>
        <p:spPr>
          <a:xfrm>
            <a:off x="627668" y="2351315"/>
            <a:ext cx="4871144" cy="404948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78B2F4E-B057-4FC5-8783-AC68C339FE81}"/>
              </a:ext>
            </a:extLst>
          </p:cNvPr>
          <p:cNvSpPr/>
          <p:nvPr/>
        </p:nvSpPr>
        <p:spPr>
          <a:xfrm>
            <a:off x="3768918" y="4617720"/>
            <a:ext cx="246491" cy="1143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C7E5D2-3D13-45CF-A420-6D06E725F70E}"/>
              </a:ext>
            </a:extLst>
          </p:cNvPr>
          <p:cNvSpPr/>
          <p:nvPr/>
        </p:nvSpPr>
        <p:spPr>
          <a:xfrm>
            <a:off x="9821186" y="4526280"/>
            <a:ext cx="246491" cy="1143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7DB0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F5F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Bypass in Action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473641" y="1463040"/>
            <a:ext cx="8934616" cy="5057030"/>
          </a:xfrm>
          <a:prstGeom prst="roundRect">
            <a:avLst>
              <a:gd name="adj" fmla="val 2105"/>
            </a:avLst>
          </a:prstGeom>
          <a:solidFill>
            <a:srgbClr val="101516"/>
          </a:solidFill>
          <a:ln w="19050">
            <a:solidFill>
              <a:srgbClr val="7DB0A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Demo">
            <a:hlinkClick r:id="" action="ppaction://media"/>
            <a:extLst>
              <a:ext uri="{FF2B5EF4-FFF2-40B4-BE49-F238E27FC236}">
                <a16:creationId xmlns:a16="http://schemas.microsoft.com/office/drawing/2014/main" id="{A5985699-811C-43F3-B1A8-B8D4AE72D38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18699" y="1512238"/>
            <a:ext cx="8802094" cy="49511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06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3616</TotalTime>
  <Words>3189</Words>
  <Application>Microsoft Office PowerPoint</Application>
  <PresentationFormat>Widescreen</PresentationFormat>
  <Paragraphs>498</Paragraphs>
  <Slides>31</Slides>
  <Notes>30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Cambria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Arth</cp:lastModifiedBy>
  <cp:revision>59</cp:revision>
  <dcterms:created xsi:type="dcterms:W3CDTF">2026-07-24T07:52:49Z</dcterms:created>
  <dcterms:modified xsi:type="dcterms:W3CDTF">2026-09-17T23:23:23Z</dcterms:modified>
</cp:coreProperties>
</file>